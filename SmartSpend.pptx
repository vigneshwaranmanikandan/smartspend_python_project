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tkinson Hyperlegible Next"/>
      <p:regular r:id="rId201314"/>
    </p:embeddedFont>
    <p:embeddedFont>
      <p:font typeface="Atkinson Hyperlegible Next SemiBold"/>
      <p:regular r:id="rId201315"/>
    </p:embeddedFont>
    <p:embeddedFont>
      <p:font typeface="Atkinson Hyperlegible Next Bold"/>
      <p:regular r:id="rId201316"/>
    </p:embeddedFont>
    <p:embeddedFont>
      <p:font typeface="B612"/>
      <p:regular r:id="rId201317"/>
    </p:embeddedFont>
    <p:embeddedFont>
      <p:font typeface="B612 Bold"/>
      <p:regular r:id="rId201318"/>
    </p:embeddedFont>
    <p:embeddedFont>
      <p:font typeface="B612 Mono"/>
      <p:regular r:id="rId201319"/>
    </p:embeddedFont>
    <p:embeddedFont>
      <p:font typeface="B612 Mono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SmartSpend as a clean Python foundation project that solves the personal finance gap between recording transactions and understanding spending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direct transition from raw transaction data to actual decisions. Stage 3 is highlighted in plotter violet as the analytical heart of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6 core pillars of SmartSpend. Emphasize that while it handles CRUD and undo safety, its distinguishing value is the automated anomaly and overrun warning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pipeline step-by-step from raw terminal keystrokes to final output. Explain how each step cleanly hands off state to the next without side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architecture mapping. Point out that analyzer.py is isolated from file I/O and UI logic, ensuring analytical functions remain pure and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ties technical curriculum elements directly to the project. Emphasize that every fundamental concept taught—from sets and dictionaries to stacks and lambda functions—has a clear functional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rule engine logic on the left and show the live evaluation of the user's specific example on the right: Budget ₹10,000 against ₹8,500 spent triggers an 85% utilization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final monthly output. Point out how the breakdown instantly surfaces Food as the dominant category and provides immediate context for the overrun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422400"/>
            <a:ext cx="5333867" cy="3837087"/>
          </a:xfrm>
          <a:prstGeom prst="rect">
            <a:avLst/>
          </a:prstGeom>
          <a:solidFill>
            <a:srgbClr val="F7F8F5"/>
          </a:solidFill>
          <a:ln w="6350">
            <a:solidFill>
              <a:srgbClr val="C2CC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1526" y="1733550"/>
            <a:ext cx="521956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PYTHON PROJECT · ARCHITECTURE &amp;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1526" y="1966516"/>
            <a:ext cx="4609985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36" kern="100" dirty="0">
                <a:solidFill>
                  <a:srgbClr val="000000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SmartSpend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71526" y="2653506"/>
            <a:ext cx="521956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Personal Expense, Budget &amp; Spending Analyzer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1526" y="3103066"/>
            <a:ext cx="460998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Python-based solution for tracking and analyzing personal spending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1526" y="3753148"/>
            <a:ext cx="230499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CORE RUNTIME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1526" y="4021038"/>
            <a:ext cx="207639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Python 3 · Standard Library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05112" y="3753148"/>
            <a:ext cx="207639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05112" y="4021038"/>
            <a:ext cx="207639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Presented by: Vigneshwaran 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71526" y="4671120"/>
            <a:ext cx="3744323" cy="277217"/>
          </a:xfrm>
          <a:prstGeom prst="roundRect">
            <a:avLst>
              <a:gd name="adj" fmla="val 8246"/>
            </a:avLst>
          </a:prstGeom>
          <a:solidFill>
            <a:srgbClr val="197A46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183" y="4724400"/>
            <a:ext cx="4140593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67" kern="100" dirty="0">
                <a:solidFill>
                  <a:srgbClr val="FFFFF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PROJECT COMPLETE · READY FOR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0168" y="3753148"/>
            <a:ext cx="12700" cy="765572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244" y="1422400"/>
            <a:ext cx="5333867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32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Recording expenses is easy; understanding them is not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40730"/>
            <a:ext cx="109725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People record expenses but often miss their spending patterns.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2303165"/>
            <a:ext cx="109725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It is difficult to see where most money is going.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365599"/>
            <a:ext cx="109725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Monthly budgets can be exceeded without timely warnings.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4428133"/>
            <a:ext cx="109725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Unusually high expenses may go unnoticed.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5490666"/>
            <a:ext cx="109725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Basic trackers store transactions without turning them into useful insights.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TRANSFORMATION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2566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SmartSpend turns expense records into decisions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375966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An automated four-stage pipeline converting raw transactions into prioritized financial actions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9585" y="2391668"/>
            <a:ext cx="2514537" cy="2688729"/>
          </a:xfrm>
          <a:prstGeom prst="roundRect">
            <a:avLst>
              <a:gd name="adj" fmla="val 3030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879" y="2632968"/>
            <a:ext cx="802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879" y="2881908"/>
            <a:ext cx="2031850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8" name="Text 6"/>
          <p:cNvSpPr/>
          <p:nvPr/>
        </p:nvSpPr>
        <p:spPr>
          <a:xfrm>
            <a:off x="850879" y="3007618"/>
            <a:ext cx="227324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STAGE 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879" y="3240584"/>
            <a:ext cx="20319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Expense Data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50879" y="3594894"/>
            <a:ext cx="2031949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Manage entries, categories, and monthly limits with structured validation and persistent JSON storage.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8914" y="2391668"/>
            <a:ext cx="2514537" cy="2688729"/>
          </a:xfrm>
          <a:prstGeom prst="roundRect">
            <a:avLst>
              <a:gd name="adj" fmla="val 3030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0208" y="2632968"/>
            <a:ext cx="8274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70208" y="2881908"/>
            <a:ext cx="2031850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14" name="Text 12"/>
          <p:cNvSpPr/>
          <p:nvPr/>
        </p:nvSpPr>
        <p:spPr>
          <a:xfrm>
            <a:off x="3670208" y="3007618"/>
            <a:ext cx="227324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STAGE 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70208" y="3240584"/>
            <a:ext cx="20319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Analysis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0208" y="3594894"/>
            <a:ext cx="203194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Aggregate category totals, measure budget utilization, and calculate average daily run rates.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8244" y="2391668"/>
            <a:ext cx="2514537" cy="2688729"/>
          </a:xfrm>
          <a:prstGeom prst="roundRect">
            <a:avLst>
              <a:gd name="adj" fmla="val 3030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9538" y="2632968"/>
            <a:ext cx="83153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89538" y="2881908"/>
            <a:ext cx="2031850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20" name="Text 18"/>
          <p:cNvSpPr/>
          <p:nvPr/>
        </p:nvSpPr>
        <p:spPr>
          <a:xfrm>
            <a:off x="6489538" y="3007618"/>
            <a:ext cx="227324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4C3BCF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STAGE 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89538" y="3240584"/>
            <a:ext cx="20319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Insights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89538" y="3594894"/>
            <a:ext cx="2031949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Detect high-value anomalies against monthly averages and estimate projected overrun risk.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67573" y="2391668"/>
            <a:ext cx="2514537" cy="2688729"/>
          </a:xfrm>
          <a:prstGeom prst="roundRect">
            <a:avLst>
              <a:gd name="adj" fmla="val 3030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867" y="2632968"/>
            <a:ext cx="8366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308867" y="2881908"/>
            <a:ext cx="2031850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26" name="Text 24"/>
          <p:cNvSpPr/>
          <p:nvPr/>
        </p:nvSpPr>
        <p:spPr>
          <a:xfrm>
            <a:off x="9308867" y="3007618"/>
            <a:ext cx="227324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STAGE 04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08867" y="3240584"/>
            <a:ext cx="20319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308867" y="3594894"/>
            <a:ext cx="2031949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Produce actionable alerts and clear summary reports that identify necessary spending adjustments.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9585" y="5907584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Expense Data → Analysis → Insights → Recommendations</a:t>
            </a:r>
            <a:endParaRPr lang="en-US" sz="11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SYSTEM CAPABILITIES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2566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One focused tool for the full expense cycle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09585" y="1580852"/>
            <a:ext cx="3505112" cy="1816398"/>
          </a:xfrm>
          <a:prstGeom prst="roundRect">
            <a:avLst>
              <a:gd name="adj" fmla="val 4195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879" y="1822152"/>
            <a:ext cx="326381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TRANSACTION OPS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0879" y="2055118"/>
            <a:ext cx="302252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CRUD &amp; Search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879" y="2409428"/>
            <a:ext cx="302252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Add, update, delete, and search expenses by date, category, or note with immediate validation.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9489" y="1580852"/>
            <a:ext cx="3352716" cy="1816398"/>
          </a:xfrm>
          <a:prstGeom prst="roundRect">
            <a:avLst>
              <a:gd name="adj" fmla="val 4195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783" y="1822152"/>
            <a:ext cx="311142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BUDGET CONTROL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0783" y="2055118"/>
            <a:ext cx="287012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Limits &amp; Allocation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60783" y="2409428"/>
            <a:ext cx="287012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Set and adjust monthly budgets, tracking live utilization ratios against predefined thresholds.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76998" y="1580852"/>
            <a:ext cx="3505112" cy="1816398"/>
          </a:xfrm>
          <a:prstGeom prst="roundRect">
            <a:avLst>
              <a:gd name="adj" fmla="val 4195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8292" y="1822152"/>
            <a:ext cx="326381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CATEGORY BREAKDOWN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18292" y="2055118"/>
            <a:ext cx="302252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Spending Analysis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18292" y="2409428"/>
            <a:ext cx="302252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Review total distribution across categories to pinpoint exactly where capital is concentrated.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3702050"/>
            <a:ext cx="3505112" cy="1816398"/>
          </a:xfrm>
          <a:prstGeom prst="roundRect">
            <a:avLst>
              <a:gd name="adj" fmla="val 4195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879" y="3943350"/>
            <a:ext cx="326381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4C3BCF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ANOMALY ENGINE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0879" y="4176316"/>
            <a:ext cx="302252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Spike Warnings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0879" y="4530626"/>
            <a:ext cx="302252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Flag unusually high expenses and trigger alerts when spending rate predicts month-end deficit.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19489" y="3702050"/>
            <a:ext cx="3352716" cy="1816398"/>
          </a:xfrm>
          <a:prstGeom prst="roundRect">
            <a:avLst>
              <a:gd name="adj" fmla="val 4195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0783" y="3943350"/>
            <a:ext cx="311142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TRANSACTION SAFETY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0783" y="4176316"/>
            <a:ext cx="287012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Stack-based Undo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60783" y="4530626"/>
            <a:ext cx="287012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Revert accidental additions or modifications immediately using an in-memory operation stack.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76998" y="3702050"/>
            <a:ext cx="3505112" cy="1816398"/>
          </a:xfrm>
          <a:prstGeom prst="roundRect">
            <a:avLst>
              <a:gd name="adj" fmla="val 4195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8292" y="3943350"/>
            <a:ext cx="326381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18292" y="4176316"/>
            <a:ext cx="302252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JSON &amp; Reports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18292" y="4530626"/>
            <a:ext cx="302252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Safely store all data across sessions in structured JSON files and compile formatted monthly summaries.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9585" y="5907484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Covers data entry, validation, computational modeling, exception protection, and reporting.</a:t>
            </a:r>
            <a:endParaRPr lang="en-US" sz="11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2566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From user input to a monthly report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375966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Expenses are stored in JSON files and processed by separate Python modules.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1741884"/>
            <a:ext cx="7251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02967" y="1729581"/>
            <a:ext cx="1067914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User input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9585" y="2430959"/>
            <a:ext cx="7251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02967" y="2418655"/>
            <a:ext cx="1067914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Expense validation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9585" y="3120033"/>
            <a:ext cx="7251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2967" y="3107730"/>
            <a:ext cx="1067914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Expense storage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585" y="3809107"/>
            <a:ext cx="7251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2967" y="3796804"/>
            <a:ext cx="1067914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Spending analysis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585" y="4498181"/>
            <a:ext cx="7251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2967" y="4485878"/>
            <a:ext cx="1067914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Budget &amp; anomaly analysis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09585" y="5187255"/>
            <a:ext cx="7251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2967" y="5174952"/>
            <a:ext cx="1067914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Insights &amp; recommendations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09585" y="5876330"/>
            <a:ext cx="72517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2967" y="5864027"/>
            <a:ext cx="1067914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Monthly report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5" y="2183705"/>
            <a:ext cx="10972526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2872780"/>
            <a:ext cx="10972526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5" y="3561854"/>
            <a:ext cx="10972526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5" y="4250928"/>
            <a:ext cx="10972526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5" y="4940002"/>
            <a:ext cx="10972526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5" y="5629077"/>
            <a:ext cx="10972526" cy="12700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SYSTEM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2566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Modular architecture keeps responsibilities clear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09585" y="1375966"/>
            <a:ext cx="5333867" cy="1370112"/>
          </a:xfrm>
          <a:prstGeom prst="roundRect">
            <a:avLst>
              <a:gd name="adj" fmla="val 5561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879" y="1617266"/>
            <a:ext cx="4851279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50879" y="1977926"/>
            <a:ext cx="509257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 interface and menu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1375966"/>
            <a:ext cx="5333867" cy="1370112"/>
          </a:xfrm>
          <a:prstGeom prst="roundRect">
            <a:avLst>
              <a:gd name="adj" fmla="val 5561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538" y="1617266"/>
            <a:ext cx="4851279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expense_manager.py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89538" y="1977926"/>
            <a:ext cx="509257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Expense CRUD operations and undo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050778"/>
            <a:ext cx="5333867" cy="1370310"/>
          </a:xfrm>
          <a:prstGeom prst="roundRect">
            <a:avLst>
              <a:gd name="adj" fmla="val 5561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879" y="3292078"/>
            <a:ext cx="4851279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budget_manager.py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0879" y="3652738"/>
            <a:ext cx="509257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Budget management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3050778"/>
            <a:ext cx="5333867" cy="1370310"/>
          </a:xfrm>
          <a:prstGeom prst="roundRect">
            <a:avLst>
              <a:gd name="adj" fmla="val 5561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538" y="3292078"/>
            <a:ext cx="4851279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analyzer.py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89538" y="3652738"/>
            <a:ext cx="509257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Spending analysis, anomaly detection, and recommendations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4725789"/>
            <a:ext cx="5333867" cy="1370112"/>
          </a:xfrm>
          <a:prstGeom prst="roundRect">
            <a:avLst>
              <a:gd name="adj" fmla="val 5561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879" y="4967089"/>
            <a:ext cx="4851279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file_manager.py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0879" y="5327749"/>
            <a:ext cx="509257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JSON file storage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8244" y="4725789"/>
            <a:ext cx="5333867" cy="1370112"/>
          </a:xfrm>
          <a:prstGeom prst="roundRect">
            <a:avLst>
              <a:gd name="adj" fmla="val 5561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538" y="4967089"/>
            <a:ext cx="4851279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report_generator.py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exceptions.py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89538" y="5555059"/>
            <a:ext cx="509257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Monthly reports · error handling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Python fundamentals power the analyzer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143000"/>
          <a:ext cx="10972526" cy="914400"/>
        </p:xfrm>
        <a:graphic>
          <a:graphicData uri="http://schemas.openxmlformats.org/drawingml/2006/table">
            <a:tbl>
              <a:tblPr/>
              <a:tblGrid>
                <a:gridCol w="4388931"/>
                <a:gridCol w="6583595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List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store expense records</a:t>
                      </a:r>
                      <a:endParaRPr lang="en-US" sz="14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Dictionary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represent expenses and category totals</a:t>
                      </a:r>
                      <a:endParaRPr lang="en-US" sz="14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Tuple &amp; Set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fixed structures and unique categories</a:t>
                      </a:r>
                      <a:endParaRPr lang="en-US" sz="14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Stack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undo the latest transaction</a:t>
                      </a:r>
                      <a:endParaRPr lang="en-US" sz="14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Functions &amp; Modules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reusable, separated operations</a:t>
                      </a:r>
                      <a:endParaRPr lang="en-US" sz="14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Lambda, exceptions, control flow, and JSON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sorting, validation, error handling, and persistence</a:t>
                      </a:r>
                      <a:endParaRPr lang="en-US" sz="14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RULE ENGINE &amp; ALERTS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2566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Simple rules create useful spending intelligence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375966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Deterministic, transparent algorithms detect anomalous activity and forecast budget health without complex overhead.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69058"/>
            <a:ext cx="6309162" cy="43223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1783358"/>
            <a:ext cx="630926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Budget Utilization Analysis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09585" y="2137668"/>
            <a:ext cx="63092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Continuously calculates percentage consumed against total monthly limit. Triggers warnings when spending crosses 80% threshold.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9585" y="2863949"/>
            <a:ext cx="630926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Unusual Expense Detection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9585" y="3218259"/>
            <a:ext cx="63092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Compares individual transaction values against monthly category mean. Flags transactions exceeding 2.5× category average.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9585" y="3944541"/>
            <a:ext cx="630926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Spending Rate Prediction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09585" y="4298851"/>
            <a:ext cx="63092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Computes average burn rate per day elapsed to project expected month-end total and estimate deficit risk early.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9585" y="5025132"/>
            <a:ext cx="630926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Actionable Recommendations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09585" y="5379442"/>
            <a:ext cx="630926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Pinpoints the single highest-spending discretionary category and outputs concrete reduction advice.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9585" y="2743299"/>
            <a:ext cx="6309262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3823891"/>
            <a:ext cx="6309262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16" name="Shape 13"/>
          <p:cNvSpPr/>
          <p:nvPr/>
        </p:nvSpPr>
        <p:spPr>
          <a:xfrm>
            <a:off x="609585" y="4904482"/>
            <a:ext cx="6309262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17" name="Shape 14"/>
          <p:cNvSpPr/>
          <p:nvPr/>
        </p:nvSpPr>
        <p:spPr>
          <a:xfrm>
            <a:off x="7375936" y="1669058"/>
            <a:ext cx="4206174" cy="4322366"/>
          </a:xfrm>
          <a:prstGeom prst="roundRect">
            <a:avLst>
              <a:gd name="adj" fmla="val 1812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91830" y="1884958"/>
            <a:ext cx="399028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4C3BCF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LIVE RULE EVALUATION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591830" y="2117923"/>
            <a:ext cx="3774385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Monthly Budget Case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591830" y="2465884"/>
            <a:ext cx="188719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SET BUDGET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91830" y="2733774"/>
            <a:ext cx="188719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₹10,000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707617" y="2465884"/>
            <a:ext cx="165859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CURRENT SPENT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707617" y="2733774"/>
            <a:ext cx="165859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₹8,500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91830" y="3170634"/>
            <a:ext cx="399028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UTILIZATION RATE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591830" y="3403600"/>
            <a:ext cx="3774385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68" kern="100" dirty="0">
                <a:solidFill>
                  <a:srgbClr val="4C3BCF"/>
                </a:solidFill>
                <a:latin typeface="B612" pitchFamily="34" charset="0"/>
                <a:ea typeface="B612" pitchFamily="34" charset="-122"/>
                <a:cs typeface="B612" pitchFamily="34" charset="-120"/>
              </a:rPr>
              <a:t>85%</a:t>
            </a:r>
            <a:endParaRPr lang="en-US" sz="3400" dirty="0"/>
          </a:p>
        </p:txBody>
      </p:sp>
      <p:sp>
        <p:nvSpPr>
          <p:cNvPr id="26" name="Shape 23"/>
          <p:cNvSpPr/>
          <p:nvPr/>
        </p:nvSpPr>
        <p:spPr>
          <a:xfrm>
            <a:off x="7591830" y="3962400"/>
            <a:ext cx="3239907" cy="277217"/>
          </a:xfrm>
          <a:prstGeom prst="roundRect">
            <a:avLst>
              <a:gd name="adj" fmla="val 8246"/>
            </a:avLst>
          </a:prstGeom>
          <a:solidFill>
            <a:srgbClr val="D99A0B"/>
          </a:solidFill>
          <a:ln/>
        </p:spPr>
      </p:sp>
      <p:sp>
        <p:nvSpPr>
          <p:cNvPr id="27" name="Text 24"/>
          <p:cNvSpPr/>
          <p:nvPr/>
        </p:nvSpPr>
        <p:spPr>
          <a:xfrm>
            <a:off x="7698488" y="4015680"/>
            <a:ext cx="3636177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67" kern="100" dirty="0">
                <a:solidFill>
                  <a:srgbClr val="00000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WARNING · BUDGET NEARING LIMIT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591830" y="4366617"/>
            <a:ext cx="3774385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Rule triggered: utilization &gt; 80% before month close. Recommended action: restrict discretionary spending.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472673" y="2465884"/>
            <a:ext cx="12700" cy="552351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84200"/>
            <a:ext cx="426709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REPORTING &amp;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17166"/>
            <a:ext cx="39877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A monthly view makes the next action visible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699816"/>
            <a:ext cx="398770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monthly report aggregates raw logs into an executive view that combines category distribution with automated advisory notes.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4706938"/>
            <a:ext cx="398770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PRIMARY INSIGHT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4974828"/>
            <a:ext cx="398770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High-spending category detected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5680869"/>
            <a:ext cx="398770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585" y="5948759"/>
            <a:ext cx="398770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Control discretionary spending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56071" y="584200"/>
            <a:ext cx="703562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MONTHLY ANALYSIS SUMMARY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56071" y="909241"/>
          <a:ext cx="6426039" cy="914400"/>
        </p:xfrm>
        <a:graphic>
          <a:graphicData uri="http://schemas.openxmlformats.org/drawingml/2006/table">
            <a:tbl>
              <a:tblPr/>
              <a:tblGrid>
                <a:gridCol w="2184941"/>
                <a:gridCol w="1413633"/>
                <a:gridCol w="1413633"/>
                <a:gridCol w="1413832"/>
              </a:tblGrid>
              <a:tr h="3503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100" dirty="0">
                          <a:solidFill>
                            <a:srgbClr val="1A1F26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CATEGORY</a:t>
                      </a:r>
                      <a:endParaRPr lang="en-US" sz="11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112" kern="100" dirty="0">
                          <a:solidFill>
                            <a:srgbClr val="1A1F26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SPENT</a:t>
                      </a:r>
                      <a:endParaRPr lang="en-US" sz="11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112" kern="100" dirty="0">
                          <a:solidFill>
                            <a:srgbClr val="1A1F26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SHARE</a:t>
                      </a:r>
                      <a:endParaRPr lang="en-US" sz="11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spc="112" kern="100" dirty="0">
                          <a:solidFill>
                            <a:srgbClr val="1A1F26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STATUS</a:t>
                      </a:r>
                      <a:endParaRPr lang="en-US" sz="11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6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Food &amp; Dining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" pitchFamily="34" charset="0"/>
                          <a:ea typeface="B612" pitchFamily="34" charset="-122"/>
                          <a:cs typeface="B612" pitchFamily="34" charset="-120"/>
                        </a:rPr>
                        <a:t>₹4,200</a:t>
                      </a:r>
                      <a:endParaRPr lang="en-US" sz="1400" dirty="0">
                        <a:latin typeface="B612" charset="0"/>
                        <a:ea typeface="B612" charset="0"/>
                        <a:cs typeface="B612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" pitchFamily="34" charset="0"/>
                          <a:ea typeface="B612" pitchFamily="34" charset="-122"/>
                          <a:cs typeface="B612" pitchFamily="34" charset="-120"/>
                        </a:rPr>
                        <a:t>49.4%</a:t>
                      </a:r>
                      <a:endParaRPr lang="en-US" sz="1400" dirty="0">
                        <a:latin typeface="B612" charset="0"/>
                        <a:ea typeface="B612" charset="0"/>
                        <a:cs typeface="B612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67" kern="1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HIGHEST</a:t>
                      </a:r>
                      <a:endParaRPr lang="en-US" sz="11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256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Shopping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" pitchFamily="34" charset="0"/>
                          <a:ea typeface="B612" pitchFamily="34" charset="-122"/>
                          <a:cs typeface="B612" pitchFamily="34" charset="-120"/>
                        </a:rPr>
                        <a:t>₹2,800</a:t>
                      </a:r>
                      <a:endParaRPr lang="en-US" sz="1400" dirty="0">
                        <a:latin typeface="B612" charset="0"/>
                        <a:ea typeface="B612" charset="0"/>
                        <a:cs typeface="B612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" pitchFamily="34" charset="0"/>
                          <a:ea typeface="B612" pitchFamily="34" charset="-122"/>
                          <a:cs typeface="B612" pitchFamily="34" charset="-120"/>
                        </a:rPr>
                        <a:t>32.9%</a:t>
                      </a:r>
                      <a:endParaRPr lang="en-US" sz="1400" dirty="0">
                        <a:latin typeface="B612" charset="0"/>
                        <a:ea typeface="B612" charset="0"/>
                        <a:cs typeface="B612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67" kern="1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ELEVATED</a:t>
                      </a:r>
                      <a:endParaRPr lang="en-US" sz="11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6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 Mono" pitchFamily="34" charset="0"/>
                          <a:ea typeface="B612 Mono" pitchFamily="34" charset="-122"/>
                          <a:cs typeface="B612 Mono" pitchFamily="34" charset="-120"/>
                        </a:rPr>
                        <a:t>Transport</a:t>
                      </a:r>
                      <a:endParaRPr lang="en-US" sz="14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" pitchFamily="34" charset="0"/>
                          <a:ea typeface="B612" pitchFamily="34" charset="-122"/>
                          <a:cs typeface="B612" pitchFamily="34" charset="-120"/>
                        </a:rPr>
                        <a:t>₹1,500</a:t>
                      </a:r>
                      <a:endParaRPr lang="en-US" sz="1400" dirty="0">
                        <a:latin typeface="B612" charset="0"/>
                        <a:ea typeface="B612" charset="0"/>
                        <a:cs typeface="B612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A313A"/>
                          </a:solidFill>
                          <a:latin typeface="B612" pitchFamily="34" charset="0"/>
                          <a:ea typeface="B612" pitchFamily="34" charset="-122"/>
                          <a:cs typeface="B612" pitchFamily="34" charset="-120"/>
                        </a:rPr>
                        <a:t>17.7%</a:t>
                      </a:r>
                      <a:endParaRPr lang="en-US" sz="1400" dirty="0">
                        <a:latin typeface="B612" charset="0"/>
                        <a:ea typeface="B612" charset="0"/>
                        <a:cs typeface="B612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67" kern="100" dirty="0">
                          <a:solidFill>
                            <a:srgbClr val="2A313A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NORMAL</a:t>
                      </a:r>
                      <a:endParaRPr lang="en-US" sz="1100" dirty="0">
                        <a:latin typeface="B612 Mono" charset="0"/>
                        <a:ea typeface="B612 Mono" charset="0"/>
                        <a:cs typeface="B612 Mon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F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156071" y="2714327"/>
            <a:ext cx="3136722" cy="1331416"/>
          </a:xfrm>
          <a:prstGeom prst="roundRect">
            <a:avLst>
              <a:gd name="adj" fmla="val 5723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7365" y="2955627"/>
            <a:ext cx="28954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TOTAL OUTFLOW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97365" y="3223518"/>
            <a:ext cx="289542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A313A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₹8,500 / ₹10,000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97365" y="3615928"/>
            <a:ext cx="289542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85.0% of allocated budget consumed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45190" y="2714327"/>
            <a:ext cx="3136822" cy="1331416"/>
          </a:xfrm>
          <a:prstGeom prst="roundRect">
            <a:avLst>
              <a:gd name="adj" fmla="val 5723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483" y="2955627"/>
            <a:ext cx="28955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100" dirty="0">
                <a:solidFill>
                  <a:srgbClr val="4C3BCF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ANOMALY FLAG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483" y="3223518"/>
            <a:ext cx="289552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1 Unusual Expense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483" y="3615928"/>
            <a:ext cx="289552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Single transaction &gt; 2.5× average flagged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56071" y="4198144"/>
            <a:ext cx="703562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Generated by 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A313A"/>
                </a:solidFill>
                <a:highlight>
                  <a:srgbClr val="EDF0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report_generator.py</a:t>
            </a:r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· persistent record exported to JSON and text.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9585" y="5445919"/>
            <a:ext cx="3987700" cy="12700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SmartSpend is a practical Python foundation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2002929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Converts raw expense records into useful financial insights.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3064570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Demonstrates Python fundamentals and data structures in a real-world workflow.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4375051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Uses modular design so the system can be extended over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24442" y="1825129"/>
            <a:ext cx="525766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24442" y="2395339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Graphical dashboard and web-based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4442" y="3456980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Database integration and advanced statistical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4442" y="4518620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AI/ML-based prediction and automatic bank transaction import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581154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A313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Thank You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9585" y="6481465"/>
            <a:ext cx="146621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SMARTSPEND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982447" y="6481465"/>
            <a:ext cx="1209248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2026-10-04T09:21:10Z</dcterms:created>
  <dcterms:modified xsi:type="dcterms:W3CDTF">2026-10-04T09:21:10Z</dcterms:modified>
</cp:coreProperties>
</file>